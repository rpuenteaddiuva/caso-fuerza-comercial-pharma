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1432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PROPUESTA PARA EL PLAN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67100"/>
            <a:ext cx="10953750" cy="857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950" b="1">
                <a:solidFill>
                  <a:srgbClr val="0B0B0B"/>
                </a:solidFill>
                <a:latin typeface="Segoe UI"/>
              </a:rPr>
              <a:t>Mismas visitas, </a:t>
            </a:r>
            <a:r>
              <a:rPr sz="4950" b="1">
                <a:solidFill>
                  <a:srgbClr val="2A78D6"/>
                </a:solidFill>
                <a:latin typeface="Segoe UI"/>
              </a:rPr>
              <a:t>2,44 M€ más</a:t>
            </a:r>
            <a:r>
              <a:rPr sz="4950" b="1">
                <a:solidFill>
                  <a:srgbClr val="0B0B0B"/>
                </a:solidFill>
                <a:latin typeface="Segoe UI"/>
              </a:rPr>
              <a:t> al año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438650"/>
            <a:ext cx="8953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Reasignar la frecuencia de visita médica, sin cambiar la plantilla ni el número de visitas.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53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Business Insights · Comité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El esfuerzo sigue al potencial, pero se satura: mover un tercio de las visitas vale 2,44 M€ al año sin coste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811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85950"/>
            <a:ext cx="3390900" cy="219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0B0B0B"/>
                </a:solidFill>
                <a:latin typeface="Segoe UI"/>
              </a:rPr>
              <a:t>Hoy un A recibe 13,3 visitas al año; un B, 4,1; un C, 1,5. La segmentación es correcta: solo 30 de 2.000 médicos están mal clasificados.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1025" y="15811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HALLAZGO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1025" y="1885950"/>
            <a:ext cx="3390900" cy="219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0B0B0B"/>
                </a:solidFill>
                <a:latin typeface="Segoe UI"/>
              </a:rPr>
              <a:t>La cuota pasa del 12,4 % sin visitas al 21,0 % con 3-5 visitas y se aplana en el 23,5 % a partir de 8-10. El 22,5 % de las visitas de 2025 fueron la décima o posterior al mismo médico; 509 médicos no recibieron ninguna.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2450" y="15811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RECOMENDACIÓN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50" y="1885950"/>
            <a:ext cx="3390900" cy="219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0B0B0B"/>
                </a:solidFill>
                <a:latin typeface="Segoe UI"/>
              </a:rPr>
              <a:t>Pasar a ≈ 9-10 / 5 / 2 visitas al año (A / B / C), ajustadas por volumen, dentro de la cartera de cada delegado. Mismos delegados, mismas visitas, mismo coste.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29150"/>
            <a:ext cx="36195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2A78D6"/>
                </a:solidFill>
                <a:latin typeface="Segoe UI"/>
              </a:rPr>
              <a:t>+2,44 M€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9050" y="4838700"/>
            <a:ext cx="609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25" b="0">
                <a:solidFill>
                  <a:srgbClr val="52514E"/>
                </a:solidFill>
                <a:latin typeface="Segoe UI"/>
              </a:rPr>
              <a:t>de ventas al año (+8 %), la cuota global del 19,9 % al 21,5 %, con los mismos 50 delegados y las mismas 8.278 visitas.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Hoy 276 médicos reciben diez o más visitas al año y 509 no reciben ninguna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3246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visitas.csv y maestro_medicos.csv, 2025. Segmentación comprobada contra el volumen real de categoría: 30 médicos de 2.000 fuera de su segmento.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3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8700" y="5181600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9620" y="5088255"/>
            <a:ext cx="18288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8700" y="4573229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2460" y="4479884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8700" y="3964858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460" y="3871513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8700" y="3356487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2460" y="3263142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300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2748116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60" y="2654771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400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8700" y="2139745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60" y="2046400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500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8700" y="1531374"/>
            <a:ext cx="63246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60" y="1438029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600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368" y="5154623"/>
            <a:ext cx="560179" cy="1745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368" y="4503666"/>
            <a:ext cx="560179" cy="631907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368" y="2094517"/>
            <a:ext cx="560179" cy="2390099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1865" y="1875918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509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6160" y="5229701"/>
            <a:ext cx="18859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882" y="5124204"/>
            <a:ext cx="560179" cy="47871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882" y="4181229"/>
            <a:ext cx="560179" cy="923925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03882" y="1717327"/>
            <a:ext cx="560179" cy="2444852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5379" y="1498728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571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5379" y="5229701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1-2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07396" y="5032949"/>
            <a:ext cx="560179" cy="139126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07396" y="3366012"/>
            <a:ext cx="560179" cy="164788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07396" y="2544711"/>
            <a:ext cx="560179" cy="802251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8893" y="2326113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435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8893" y="5229701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3-5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10911" y="4972111"/>
            <a:ext cx="560179" cy="19996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10911" y="4083890"/>
            <a:ext cx="560179" cy="86917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10911" y="3919630"/>
            <a:ext cx="560179" cy="14521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2408" y="3701031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209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2408" y="5229701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6-9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14425" y="4740930"/>
            <a:ext cx="560179" cy="431145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14425" y="4534084"/>
            <a:ext cx="560179" cy="18779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14425" y="4448912"/>
            <a:ext cx="560179" cy="66122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25922" y="4230314"/>
            <a:ext cx="33718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122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27" y="5229701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10-14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7939" y="4710512"/>
            <a:ext cx="560179" cy="461563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17939" y="4625340"/>
            <a:ext cx="560179" cy="6612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17939" y="4607089"/>
            <a:ext cx="560179" cy="4762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66584" y="4388490"/>
            <a:ext cx="262890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96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55141" y="5229701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15-19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1453" y="4862605"/>
            <a:ext cx="560179" cy="30947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21453" y="4838270"/>
            <a:ext cx="560179" cy="5285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0098" y="4619671"/>
            <a:ext cx="262890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8655" y="5229701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20-29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28700" y="5181600"/>
            <a:ext cx="632460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276600" y="5412105"/>
            <a:ext cx="18288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Visitas recibidas en 2025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0100" y="1200150"/>
            <a:ext cx="114300" cy="1143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2025" y="116395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Segmento 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24500" y="1200150"/>
            <a:ext cx="114300" cy="1143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86425" y="116395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Segmento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38900" y="1200150"/>
            <a:ext cx="114300" cy="11430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00825" y="116395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Segmento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6700" y="1181100"/>
            <a:ext cx="36957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B0B0B"/>
                </a:solidFill>
                <a:latin typeface="Segoe UI"/>
              </a:rPr>
              <a:t>8.278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6700" y="158115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visitas válidas en 2025, tras eliminar 255 registros duplicados del mismo día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6700" y="2381250"/>
            <a:ext cx="36957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B0B0B"/>
                </a:solidFill>
                <a:latin typeface="Segoe UI"/>
              </a:rPr>
              <a:t>1.864 · 22,5 %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6700" y="278130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visitas que fueron la décima o posterior al mismo médico, casi todas a médicos 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86700" y="3581400"/>
            <a:ext cx="36957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B0B0B"/>
                </a:solidFill>
                <a:latin typeface="Segoe UI"/>
              </a:rPr>
              <a:t>13,3 · 4,1 · 1,5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86700" y="398145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visitas al año por médico A · B · C. La regla A &gt; B &gt; C se cumple; la pregunta es si esa intensidad la justifica la respuesta del médico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A partir de 8-10 visitas al año, una visita más apenas mueve la cuota, sea el médico A, B o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3246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Estimado con los cambios de cada médico entre 2024 y 2025 (2.000 médicos), no comparando médicos distintos. Validado con un panel mensual: el efecto aparece el mismo mes y sigue vivo seis meses después.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33500"/>
            <a:ext cx="7048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B0B0B"/>
                </a:solidFill>
                <a:latin typeface="Segoe UI"/>
              </a:rPr>
              <a:t>Cuota del médico según visitas recibidas al año </a:t>
            </a:r>
            <a:r>
              <a:rPr sz="1050" b="0">
                <a:solidFill>
                  <a:srgbClr val="52514E"/>
                </a:solidFill>
                <a:latin typeface="Segoe UI"/>
              </a:rPr>
              <a:t>(el tamaño del punto es el número de médicos)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4900" y="5295900"/>
            <a:ext cx="64198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5202555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10 %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04900" y="4438650"/>
            <a:ext cx="64198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345305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15 %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4900" y="3581400"/>
            <a:ext cx="64198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488055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20 %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4900" y="2724150"/>
            <a:ext cx="64198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630805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25 %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4900" y="1866900"/>
            <a:ext cx="64198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1773555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30 %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460" y="5335905"/>
            <a:ext cx="18288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3435" y="5335905"/>
            <a:ext cx="18288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9120" y="533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9095" y="533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070" y="533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9045" y="533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9020" y="533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30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04900" y="5295900"/>
            <a:ext cx="641985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77615" y="5545455"/>
            <a:ext cx="10744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Visitas al año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51034" y="2000250"/>
            <a:ext cx="0" cy="3295650"/>
          </a:xfrm>
          <a:prstGeom prst="line">
            <a:avLst/>
          </a:prstGeom>
          <a:ln w="11429">
            <a:solidFill>
              <a:srgbClr val="1C5CA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32410" y="1817132"/>
            <a:ext cx="837247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1C5CAB"/>
                </a:solidFill>
                <a:latin typeface="Segoe UI"/>
              </a:rPr>
              <a:t>hoy A: 13,3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982280" y="2000250"/>
            <a:ext cx="0" cy="3295650"/>
          </a:xfrm>
          <a:prstGeom prst="line">
            <a:avLst/>
          </a:prstGeom>
          <a:ln w="11429">
            <a:solidFill>
              <a:srgbClr val="3987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96517" y="1969532"/>
            <a:ext cx="771525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3987E5"/>
                </a:solidFill>
                <a:latin typeface="Segoe UI"/>
              </a:rPr>
              <a:t>hoy B: 4,1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425892" y="2000250"/>
            <a:ext cx="0" cy="3295650"/>
          </a:xfrm>
          <a:prstGeom prst="line">
            <a:avLst/>
          </a:prstGeom>
          <a:ln w="11429">
            <a:solidFill>
              <a:srgbClr val="86B6E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0130" y="1817132"/>
            <a:ext cx="771525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86B6EF"/>
                </a:solidFill>
                <a:latin typeface="Segoe UI"/>
              </a:rPr>
              <a:t>hoy C: 1,5</a:t>
            </a:r>
          </a:p>
        </p:txBody>
      </p:sp>
      <p:sp>
        <p:nvSpPr>
          <p:cNvPr id="31" name="Freeform 30"/>
          <p:cNvSpPr/>
          <p:nvPr/>
        </p:nvSpPr>
        <p:spPr>
          <a:xfrm>
            <a:off x="1104900" y="2484120"/>
            <a:ext cx="6419850" cy="2520315"/>
          </a:xfrm>
          <a:custGeom>
            <a:avLst/>
            <a:gdLst/>
            <a:ahLst/>
            <a:cxnLst/>
            <a:rect l="l" t="t" r="r" b="b"/>
            <a:pathLst>
              <a:path w="6419850" h="2520315">
                <a:moveTo>
                  <a:pt x="0" y="2520315"/>
                </a:moveTo>
                <a:lnTo>
                  <a:pt x="213995" y="1748790"/>
                </a:lnTo>
                <a:lnTo>
                  <a:pt x="427990" y="1320165"/>
                </a:lnTo>
                <a:lnTo>
                  <a:pt x="641985" y="1045845"/>
                </a:lnTo>
                <a:lnTo>
                  <a:pt x="855980" y="840105"/>
                </a:lnTo>
                <a:lnTo>
                  <a:pt x="1069975" y="702945"/>
                </a:lnTo>
                <a:lnTo>
                  <a:pt x="1283970" y="600075"/>
                </a:lnTo>
                <a:lnTo>
                  <a:pt x="1497965" y="514350"/>
                </a:lnTo>
                <a:lnTo>
                  <a:pt x="1711960" y="445770"/>
                </a:lnTo>
                <a:lnTo>
                  <a:pt x="1925955" y="394335"/>
                </a:lnTo>
                <a:lnTo>
                  <a:pt x="2139950" y="342900"/>
                </a:lnTo>
                <a:lnTo>
                  <a:pt x="2353945" y="308610"/>
                </a:lnTo>
                <a:lnTo>
                  <a:pt x="2567940" y="274320"/>
                </a:lnTo>
                <a:lnTo>
                  <a:pt x="2781935" y="240030"/>
                </a:lnTo>
                <a:lnTo>
                  <a:pt x="2995930" y="205740"/>
                </a:lnTo>
                <a:lnTo>
                  <a:pt x="3209925" y="188595"/>
                </a:lnTo>
                <a:lnTo>
                  <a:pt x="3423920" y="171450"/>
                </a:lnTo>
                <a:lnTo>
                  <a:pt x="3637915" y="137160"/>
                </a:lnTo>
                <a:lnTo>
                  <a:pt x="3851910" y="120015"/>
                </a:lnTo>
                <a:lnTo>
                  <a:pt x="4065905" y="120015"/>
                </a:lnTo>
                <a:lnTo>
                  <a:pt x="4279900" y="102870"/>
                </a:lnTo>
                <a:lnTo>
                  <a:pt x="4493895" y="85725"/>
                </a:lnTo>
                <a:lnTo>
                  <a:pt x="4707890" y="68580"/>
                </a:lnTo>
                <a:lnTo>
                  <a:pt x="4921885" y="68580"/>
                </a:lnTo>
                <a:lnTo>
                  <a:pt x="5135880" y="51435"/>
                </a:lnTo>
                <a:lnTo>
                  <a:pt x="5349875" y="34290"/>
                </a:lnTo>
                <a:lnTo>
                  <a:pt x="5563870" y="34290"/>
                </a:lnTo>
                <a:lnTo>
                  <a:pt x="5777865" y="17145"/>
                </a:lnTo>
                <a:lnTo>
                  <a:pt x="5991860" y="17145"/>
                </a:lnTo>
                <a:lnTo>
                  <a:pt x="6205855" y="17145"/>
                </a:lnTo>
                <a:lnTo>
                  <a:pt x="6419850" y="0"/>
                </a:lnTo>
              </a:path>
            </a:pathLst>
          </a:custGeom>
          <a:noFill/>
          <a:ln w="23812">
            <a:solidFill>
              <a:srgbClr val="0B0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6686" y="4983366"/>
            <a:ext cx="76427" cy="76427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02495" y="4190039"/>
            <a:ext cx="85743" cy="85743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14391" y="3616571"/>
            <a:ext cx="101109" cy="101109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670676" y="3202121"/>
            <a:ext cx="107048" cy="107048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74844" y="3001646"/>
            <a:ext cx="130808" cy="130808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46342" y="2965390"/>
            <a:ext cx="134739" cy="134739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85476" y="2920349"/>
            <a:ext cx="121951" cy="121951"/>
          </a:xfrm>
          <a:prstGeom prst="ellipse">
            <a:avLst/>
          </a:prstGeom>
          <a:solidFill>
            <a:srgbClr val="1C5CA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1841" y="4811361"/>
            <a:ext cx="146118" cy="146118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35003" y="4115863"/>
            <a:ext cx="165515" cy="165515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45564" y="3395553"/>
            <a:ext cx="200244" cy="200244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08768" y="3038725"/>
            <a:ext cx="159519" cy="159519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68842" y="2773311"/>
            <a:ext cx="107419" cy="107419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44924" y="2800350"/>
            <a:ext cx="87630" cy="87630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41618" y="2753165"/>
            <a:ext cx="79129" cy="79129"/>
          </a:xfrm>
          <a:prstGeom prst="ellipse">
            <a:avLst/>
          </a:prstGeom>
          <a:solidFill>
            <a:srgbClr val="3987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1035" y="4770555"/>
            <a:ext cx="227729" cy="227729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85159" y="3739810"/>
            <a:ext cx="231819" cy="231819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85160" y="3074209"/>
            <a:ext cx="157132" cy="157132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16146" y="2757888"/>
            <a:ext cx="103974" cy="103974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68837" y="2749223"/>
            <a:ext cx="87014" cy="87014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22139" y="2672334"/>
            <a:ext cx="69342" cy="69342"/>
          </a:xfrm>
          <a:prstGeom prst="ellipse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5143500" y="4495800"/>
            <a:ext cx="247650" cy="0"/>
          </a:xfrm>
          <a:prstGeom prst="line">
            <a:avLst/>
          </a:prstGeom>
          <a:ln w="23812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48300" y="4407932"/>
            <a:ext cx="2874645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Curva estimada (cambios dentro del médico)</a:t>
            </a:r>
          </a:p>
        </p:txBody>
      </p:sp>
      <p:sp>
        <p:nvSpPr>
          <p:cNvPr id="54" name="Oval 53"/>
          <p:cNvSpPr/>
          <p:nvPr/>
        </p:nvSpPr>
        <p:spPr>
          <a:xfrm>
            <a:off x="5219700" y="4638675"/>
            <a:ext cx="95250" cy="95250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8300" y="4598432"/>
            <a:ext cx="149447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Observado, segmento A</a:t>
            </a:r>
          </a:p>
        </p:txBody>
      </p:sp>
      <p:sp>
        <p:nvSpPr>
          <p:cNvPr id="56" name="Oval 55"/>
          <p:cNvSpPr/>
          <p:nvPr/>
        </p:nvSpPr>
        <p:spPr>
          <a:xfrm>
            <a:off x="5219700" y="4810125"/>
            <a:ext cx="95250" cy="9525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8300" y="4769882"/>
            <a:ext cx="149447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Observado, segmento B</a:t>
            </a:r>
          </a:p>
        </p:txBody>
      </p:sp>
      <p:sp>
        <p:nvSpPr>
          <p:cNvPr id="58" name="Oval 57"/>
          <p:cNvSpPr/>
          <p:nvPr/>
        </p:nvSpPr>
        <p:spPr>
          <a:xfrm>
            <a:off x="5219700" y="4981575"/>
            <a:ext cx="95250" cy="95250"/>
          </a:xfrm>
          <a:prstGeom prst="ellipse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8300" y="4941332"/>
            <a:ext cx="149447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Observado, segmento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1333500"/>
            <a:ext cx="3581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B0B0B"/>
                </a:solidFill>
                <a:latin typeface="Segoe UI"/>
              </a:rPr>
              <a:t>Puntos de cuota que gana el médico por cada visita adicional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1771650"/>
            <a:ext cx="3581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52514E"/>
                </a:solidFill>
                <a:latin typeface="Segoe UI"/>
              </a:rPr>
              <a:t>Cambios dentro del mismo médico entre 2024 y 2025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86750" y="4038600"/>
            <a:ext cx="34480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052435" y="3956209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286750" y="3590925"/>
            <a:ext cx="34480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052435" y="3508534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86750" y="3143250"/>
            <a:ext cx="34480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052435" y="3060859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86750" y="2695575"/>
            <a:ext cx="34480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052435" y="2613184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286750" y="2247900"/>
            <a:ext cx="34480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052435" y="2165509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80340" y="2404586"/>
            <a:ext cx="305399" cy="163401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44444" y="2230993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3,65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44457" y="4070509"/>
            <a:ext cx="17716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72918" y="2959703"/>
            <a:ext cx="305399" cy="107889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37023" y="2786110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2,41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74170" y="4070509"/>
            <a:ext cx="30289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1-2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65497" y="3617786"/>
            <a:ext cx="305399" cy="42081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9601" y="3444192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0,94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6749" y="4070509"/>
            <a:ext cx="30289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3-5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58076" y="3890867"/>
            <a:ext cx="305399" cy="147733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22180" y="3717274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0,33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59327" y="4070509"/>
            <a:ext cx="30289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6-9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50654" y="3975926"/>
            <a:ext cx="305399" cy="6267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14759" y="3802332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0,14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89041" y="4070509"/>
            <a:ext cx="42862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10-14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43233" y="4002786"/>
            <a:ext cx="305399" cy="3581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807337" y="3829193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0,08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81620" y="4070509"/>
            <a:ext cx="42862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15-19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335811" y="4016216"/>
            <a:ext cx="305399" cy="22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9916" y="3842623"/>
            <a:ext cx="37719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1">
                <a:solidFill>
                  <a:srgbClr val="0B0B0B"/>
                </a:solidFill>
                <a:latin typeface="Segoe UI"/>
              </a:rPr>
              <a:t>0,05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337063" y="4070509"/>
            <a:ext cx="30289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20+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286750" y="4038600"/>
            <a:ext cx="344805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010650" y="4241959"/>
            <a:ext cx="2000250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Visitas que ya recibía en 2024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4572000"/>
            <a:ext cx="3581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0B0B0B"/>
                </a:solidFill>
                <a:latin typeface="Segoe UI"/>
              </a:rPr>
              <a:t>La primera visita mueve </a:t>
            </a:r>
            <a:r>
              <a:rPr sz="1125" b="1">
                <a:solidFill>
                  <a:srgbClr val="0B0B0B"/>
                </a:solidFill>
                <a:latin typeface="Segoe UI"/>
              </a:rPr>
              <a:t>3,65 puntos</a:t>
            </a:r>
            <a:r>
              <a:rPr sz="1125" b="0">
                <a:solidFill>
                  <a:srgbClr val="0B0B0B"/>
                </a:solidFill>
                <a:latin typeface="Segoe UI"/>
              </a:rPr>
              <a:t> de cuota; a partir de la vigésima, </a:t>
            </a:r>
            <a:r>
              <a:rPr sz="1125" b="1">
                <a:solidFill>
                  <a:srgbClr val="0B0B0B"/>
                </a:solidFill>
                <a:latin typeface="Segoe UI"/>
              </a:rPr>
              <a:t>cinco centésimas</a:t>
            </a:r>
            <a:r>
              <a:rPr sz="1125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La décima visita a un médico A vale 613 €; la primera a un B sin visitar, 3.833 €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8350" y="1066800"/>
            <a:ext cx="1714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B0B0B"/>
                </a:solidFill>
                <a:latin typeface="Segoe UI"/>
              </a:rPr>
              <a:t>Médico A mediano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8350" y="131445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12.204 uds. de categoría al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2850" y="1066800"/>
            <a:ext cx="1714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B0B0B"/>
                </a:solidFill>
                <a:latin typeface="Segoe UI"/>
              </a:rPr>
              <a:t>Médico B mediano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850" y="131445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4.735 uds. de categoría al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1066800"/>
            <a:ext cx="1714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B0B0B"/>
                </a:solidFill>
                <a:latin typeface="Segoe UI"/>
              </a:rPr>
              <a:t>Médico C mediano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350" y="131445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1.646 uds. de categoría al año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1562100"/>
            <a:ext cx="6572250" cy="0"/>
          </a:xfrm>
          <a:prstGeom prst="line">
            <a:avLst/>
          </a:prstGeom>
          <a:ln w="1905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2950" y="17049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8350" y="17049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9.881 €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850" y="17049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3.833 €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7350" y="17049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1.332 €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207645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2950" y="22193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8350" y="22193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5.524 €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2850" y="22193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2.143 €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7350" y="22193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745 €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" y="259080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2950" y="27336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50" y="27336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1.799 €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2850" y="27336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698 €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7350" y="27336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243 €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310515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2950" y="32480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8350" y="32480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613 €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2850" y="32480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238 €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7350" y="32480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83 €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" y="361950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2950" y="37623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38350" y="37623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345 €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2850" y="37623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134 €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7350" y="376237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46 €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" y="413385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2950" y="42767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2514E"/>
                </a:solidFill>
                <a:latin typeface="Segoe UI"/>
              </a:rPr>
              <a:t>Visita nº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38350" y="42767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183 €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2850" y="42767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71 €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7350" y="42767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75" b="0">
                <a:solidFill>
                  <a:srgbClr val="0B0B0B"/>
                </a:solidFill>
                <a:latin typeface="Segoe UI"/>
              </a:rPr>
              <a:t>25 €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600" y="4648200"/>
            <a:ext cx="65722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9600" y="4762500"/>
            <a:ext cx="6572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0">
                <a:solidFill>
                  <a:srgbClr val="52514E"/>
                </a:solidFill>
                <a:latin typeface="Segoe UI"/>
              </a:rPr>
              <a:t>Euros de venta anual que aporta la visita número k. Coste de una visita: 72 €.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9050" y="1123950"/>
            <a:ext cx="3943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CÓMO SE CALCULA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9050" y="1371600"/>
            <a:ext cx="39433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62" b="0">
                <a:solidFill>
                  <a:srgbClr val="0B0B0B"/>
                </a:solidFill>
                <a:latin typeface="Segoe UI"/>
              </a:rPr>
              <a:t>Valor de una visita = volumen de categoría del médico × ganancia de cuota × 18 €.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9050" y="2000250"/>
            <a:ext cx="3943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QUÉ SIGNIFICA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9050" y="2247900"/>
            <a:ext cx="39433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62" b="0">
                <a:solidFill>
                  <a:srgbClr val="0B0B0B"/>
                </a:solidFill>
                <a:latin typeface="Segoe UI"/>
              </a:rPr>
              <a:t>Casi todas las visitas rentan más que su coste: no se trata de recortar, sino de recolocar.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9050" y="2876550"/>
            <a:ext cx="3943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LA REGLA QUE SALE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9050" y="3124200"/>
            <a:ext cx="39433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62" b="0">
                <a:solidFill>
                  <a:srgbClr val="0B0B0B"/>
                </a:solidFill>
                <a:latin typeface="Segoe UI"/>
              </a:rPr>
              <a:t>El reparto óptimo iguala el valor de la última visita entre médicos: eso lleva a </a:t>
            </a:r>
            <a:r>
              <a:rPr sz="1162" b="1">
                <a:solidFill>
                  <a:srgbClr val="0B0B0B"/>
                </a:solidFill>
                <a:latin typeface="Segoe UI"/>
              </a:rPr>
              <a:t>≈ 9-10 visitas para un A, 5 para un B y 2 para un C</a:t>
            </a:r>
            <a:r>
              <a:rPr sz="1162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Plan 2026: 9-10 / 5 / 2 visitas al año, ajustadas por volumen, dentro de la cartera de cada delegado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6 / 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2500" y="4152900"/>
            <a:ext cx="4533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3420" y="4059555"/>
            <a:ext cx="18288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2500" y="3308350"/>
            <a:ext cx="4533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3420" y="3215005"/>
            <a:ext cx="18288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2500" y="2463800"/>
            <a:ext cx="4533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840" y="237045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1619250"/>
            <a:ext cx="4533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4840" y="1525905"/>
            <a:ext cx="2514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075" y="1906397"/>
            <a:ext cx="590550" cy="2246503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180" y="1695894"/>
            <a:ext cx="43434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13,3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7675" y="2531364"/>
            <a:ext cx="590550" cy="16215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5785" y="2320862"/>
            <a:ext cx="35433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2A78D6"/>
                </a:solidFill>
                <a:latin typeface="Segoe UI"/>
              </a:rPr>
              <a:t>9,6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750" y="4206478"/>
            <a:ext cx="1828800" cy="178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Segmento A (286 médicos)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457" y="4394359"/>
            <a:ext cx="1937385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plan: de 5 a 14 según volumen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9375" y="3460369"/>
            <a:ext cx="590550" cy="692531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7485" y="3249866"/>
            <a:ext cx="35433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4,1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8975" y="3308350"/>
            <a:ext cx="590550" cy="8445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7085" y="3097848"/>
            <a:ext cx="35433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2A78D6"/>
                </a:solidFill>
                <a:latin typeface="Segoe UI"/>
              </a:rPr>
              <a:t>5,0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5050" y="4206478"/>
            <a:ext cx="1828800" cy="178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Segmento B (734 médicos)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2190" y="4394359"/>
            <a:ext cx="1874520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plan: de 2 a 8 según volumen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0675" y="3899535"/>
            <a:ext cx="590550" cy="253365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8785" y="3689032"/>
            <a:ext cx="35433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1,5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0275" y="3831971"/>
            <a:ext cx="590550" cy="32092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8385" y="3621468"/>
            <a:ext cx="35433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2A78D6"/>
                </a:solidFill>
                <a:latin typeface="Segoe UI"/>
              </a:rPr>
              <a:t>1,9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6350" y="4206478"/>
            <a:ext cx="1828800" cy="178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Segmento C (980 médicos)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3490" y="4394359"/>
            <a:ext cx="1874520" cy="157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25" b="0">
                <a:solidFill>
                  <a:srgbClr val="52514E"/>
                </a:solidFill>
                <a:latin typeface="Segoe UI"/>
              </a:rPr>
              <a:t>plan: de 0 a 4 según volumen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500" y="4152900"/>
            <a:ext cx="453390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76650" y="1409700"/>
            <a:ext cx="114300" cy="11430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38575" y="137350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Hoy (2025)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9150" y="1409700"/>
            <a:ext cx="114300" cy="1143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075" y="1373505"/>
            <a:ext cx="7315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Plan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" y="1378982"/>
            <a:ext cx="175736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Visitas al año por médico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333500"/>
            <a:ext cx="5638800" cy="205740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4100" y="1485900"/>
            <a:ext cx="5143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QUÉ PASA EL LUNES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4100" y="1752600"/>
            <a:ext cx="5257800" cy="1619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12" b="0">
                <a:solidFill>
                  <a:srgbClr val="0B0B0B"/>
                </a:solidFill>
                <a:latin typeface="Segoe UI"/>
              </a:rPr>
              <a:t>•  Cada delegado recibe su lista de médicos con la frecuencia recomendada para 2026 (Excel, 2.000 filas, ya generado).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12" b="0">
                <a:solidFill>
                  <a:srgbClr val="0B0B0B"/>
                </a:solidFill>
                <a:latin typeface="Segoe UI"/>
              </a:rPr>
              <a:t>•  1.130 médicos suben de frecuencia (507 pasan de cero a alguna visita), 595 bajan. Cambian de médico 2.734 visitas, un tercio del total.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12" b="0">
                <a:solidFill>
                  <a:srgbClr val="0B0B0B"/>
                </a:solidFill>
                <a:latin typeface="Segoe UI"/>
              </a:rPr>
              <a:t>•  Ningún delegado cambia su número de visitas ni su territorio. El coste total no varía.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12" b="0">
                <a:solidFill>
                  <a:srgbClr val="0B0B0B"/>
                </a:solidFill>
                <a:latin typeface="Segoe UI"/>
              </a:rPr>
              <a:t>•  Regla simple si se prefiere: 9 / 5 / 2 por segmento vale 2,38 M€. Solo con “nadie a cero” ya se ganan 1,31 M€.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5433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B0B0B"/>
                </a:solidFill>
                <a:latin typeface="Segoe UI"/>
              </a:rPr>
              <a:t>La mitad del valor sale de menos de 200 médicos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62700" y="5238750"/>
            <a:ext cx="3295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11228" y="51618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0 %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62700" y="4543425"/>
            <a:ext cx="3295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51220" y="4466511"/>
            <a:ext cx="35433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50 %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62700" y="3848100"/>
            <a:ext cx="3295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91212" y="3771186"/>
            <a:ext cx="414338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100 %</a:t>
            </a:r>
          </a:p>
        </p:txBody>
      </p:sp>
      <p:sp>
        <p:nvSpPr>
          <p:cNvPr id="46" name="Freeform 45"/>
          <p:cNvSpPr/>
          <p:nvPr/>
        </p:nvSpPr>
        <p:spPr>
          <a:xfrm>
            <a:off x="6362700" y="3848100"/>
            <a:ext cx="3295650" cy="1390650"/>
          </a:xfrm>
          <a:custGeom>
            <a:avLst/>
            <a:gdLst/>
            <a:ahLst/>
            <a:cxnLst/>
            <a:rect l="l" t="t" r="r" b="b"/>
            <a:pathLst>
              <a:path w="3295650" h="1390650">
                <a:moveTo>
                  <a:pt x="0" y="1390650"/>
                </a:moveTo>
                <a:lnTo>
                  <a:pt x="145825" y="1100004"/>
                </a:lnTo>
                <a:lnTo>
                  <a:pt x="291650" y="912266"/>
                </a:lnTo>
                <a:lnTo>
                  <a:pt x="437476" y="770420"/>
                </a:lnTo>
                <a:lnTo>
                  <a:pt x="583301" y="664731"/>
                </a:lnTo>
                <a:lnTo>
                  <a:pt x="729126" y="584073"/>
                </a:lnTo>
                <a:lnTo>
                  <a:pt x="874951" y="515931"/>
                </a:lnTo>
                <a:lnTo>
                  <a:pt x="1020777" y="457524"/>
                </a:lnTo>
                <a:lnTo>
                  <a:pt x="1166602" y="406070"/>
                </a:lnTo>
                <a:lnTo>
                  <a:pt x="1312427" y="357397"/>
                </a:lnTo>
                <a:lnTo>
                  <a:pt x="1458252" y="311506"/>
                </a:lnTo>
                <a:lnTo>
                  <a:pt x="1604077" y="268395"/>
                </a:lnTo>
                <a:lnTo>
                  <a:pt x="1749903" y="228067"/>
                </a:lnTo>
                <a:lnTo>
                  <a:pt x="1895728" y="190519"/>
                </a:lnTo>
                <a:lnTo>
                  <a:pt x="2041553" y="155753"/>
                </a:lnTo>
                <a:lnTo>
                  <a:pt x="2187378" y="127940"/>
                </a:lnTo>
                <a:lnTo>
                  <a:pt x="2333204" y="102908"/>
                </a:lnTo>
                <a:lnTo>
                  <a:pt x="2479029" y="83439"/>
                </a:lnTo>
                <a:lnTo>
                  <a:pt x="2624854" y="65361"/>
                </a:lnTo>
                <a:lnTo>
                  <a:pt x="2770679" y="48673"/>
                </a:lnTo>
                <a:lnTo>
                  <a:pt x="2916504" y="33376"/>
                </a:lnTo>
                <a:lnTo>
                  <a:pt x="3062330" y="19469"/>
                </a:lnTo>
                <a:lnTo>
                  <a:pt x="3208155" y="6953"/>
                </a:lnTo>
                <a:lnTo>
                  <a:pt x="3295650" y="0"/>
                </a:lnTo>
              </a:path>
            </a:pathLst>
          </a:custGeom>
          <a:noFill/>
          <a:ln w="23812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6899337" y="4543425"/>
            <a:ext cx="0" cy="695325"/>
          </a:xfrm>
          <a:prstGeom prst="line">
            <a:avLst/>
          </a:prstGeom>
          <a:ln w="9525">
            <a:solidFill>
              <a:srgbClr val="52514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856474" y="450056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5537" y="4561761"/>
            <a:ext cx="251460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>
                <a:solidFill>
                  <a:srgbClr val="0B0B0B"/>
                </a:solidFill>
                <a:latin typeface="Segoe UI"/>
              </a:rPr>
              <a:t>50 % del valor: 184 médicos, 982 visitas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7934696" y="4126230"/>
            <a:ext cx="0" cy="1112520"/>
          </a:xfrm>
          <a:prstGeom prst="line">
            <a:avLst/>
          </a:prstGeom>
          <a:ln w="9525">
            <a:solidFill>
              <a:srgbClr val="52514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891833" y="408336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0896" y="4144566"/>
            <a:ext cx="203454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>
                <a:solidFill>
                  <a:srgbClr val="0B0B0B"/>
                </a:solidFill>
                <a:latin typeface="Segoe UI"/>
              </a:rPr>
              <a:t>80 %: 539 médicos, 1.917 visitas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62700" y="5238750"/>
            <a:ext cx="329565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275546" y="5257086"/>
            <a:ext cx="174308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3791" y="525708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500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2039" y="5257086"/>
            <a:ext cx="35433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1000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3221" y="5399961"/>
            <a:ext cx="2574608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Médicos que suben, ordenados por ganancia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+2,44 M€ al año a coste cero: la cuota pasa del 19,9 % al 21,5 %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3246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Valor por región: Centro 0,56 · Levante 0,60 · Noreste 0,51 · Noroeste 0,44 · Sur 0,33 M€. Los rangos de causalidad y ejecución de la simulación son supuestos de juicio.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7 /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8700" y="4357007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3880" y="4263662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-1,0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8700" y="3948793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3880" y="3855448"/>
            <a:ext cx="3886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-0,5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8700" y="3540579"/>
            <a:ext cx="596265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460" y="3447234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0,0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8700" y="3132364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2460" y="3039019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0,5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2724150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60" y="2630805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1,0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8700" y="2315936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60" y="2222591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1,5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8700" y="1907721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60" y="1814376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2,0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8700" y="1499507"/>
            <a:ext cx="596265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60" y="1406162"/>
            <a:ext cx="3200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2,5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9131" y="3540579"/>
            <a:ext cx="691667" cy="75111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2078" y="3331505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−0,92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035" y="4484132"/>
            <a:ext cx="116586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Se pierde en 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896" y="4627007"/>
            <a:ext cx="1100138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595 médicos 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729" y="4769882"/>
            <a:ext cx="149447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reciben menos visitas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71661" y="3858986"/>
            <a:ext cx="691667" cy="43270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4607" y="3649912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+0,53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6010" y="4484132"/>
            <a:ext cx="90297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Se gana en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6010" y="4627007"/>
            <a:ext cx="90297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(73 médicos)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4191" y="2340429"/>
            <a:ext cx="691667" cy="151855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138" y="2131355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+1,86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8540" y="4484132"/>
            <a:ext cx="90297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Se gana en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5679" y="4627007"/>
            <a:ext cx="96869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(455 médicos)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56721" y="1548493"/>
            <a:ext cx="691667" cy="7919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9668" y="1339419"/>
            <a:ext cx="485775" cy="185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75" b="1">
                <a:solidFill>
                  <a:srgbClr val="0B0B0B"/>
                </a:solidFill>
                <a:latin typeface="Segoe UI"/>
              </a:rPr>
              <a:t>+0,97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1070" y="4484132"/>
            <a:ext cx="902970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Se gana en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209" y="4627007"/>
            <a:ext cx="96869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(602 médicos)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9251" y="1548493"/>
            <a:ext cx="691667" cy="199208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95035" y="1307987"/>
            <a:ext cx="800100" cy="214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25" b="1">
                <a:solidFill>
                  <a:srgbClr val="0B0B0B"/>
                </a:solidFill>
                <a:latin typeface="Segoe UI"/>
              </a:rPr>
              <a:t>+2,44 M€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6461" y="4484132"/>
            <a:ext cx="837247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62" b="0">
                <a:solidFill>
                  <a:srgbClr val="0B0B0B"/>
                </a:solidFill>
                <a:latin typeface="Segoe UI"/>
              </a:rPr>
              <a:t>Neto al año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1074182"/>
            <a:ext cx="2020252" cy="164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52514E"/>
                </a:solidFill>
                <a:latin typeface="Segoe UI"/>
              </a:rPr>
              <a:t>Ventas adicionales, M€ al año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0" y="1028700"/>
            <a:ext cx="4152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B0B0B"/>
                </a:solidFill>
                <a:latin typeface="Segoe UI"/>
              </a:rPr>
              <a:t>El valor como distribución: 4.000 escenarios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0" y="1238250"/>
            <a:ext cx="41529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2514E"/>
                </a:solidFill>
                <a:latin typeface="Segoe UI"/>
              </a:rPr>
              <a:t>Curva incierta, solo del 60 % al 100 % del efecto es causal y se ejecuta del 70 % al 100 % del plan. La línea discontinua es la estimación central, 2,44 M€.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5171" y="2941884"/>
            <a:ext cx="144399" cy="1061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49095" y="2567164"/>
            <a:ext cx="175184" cy="4808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33804" y="2265398"/>
            <a:ext cx="144399" cy="78260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7728" y="2192443"/>
            <a:ext cx="175184" cy="85555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72437" y="2298559"/>
            <a:ext cx="175184" cy="74944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57146" y="2275346"/>
            <a:ext cx="144399" cy="77265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11070" y="2152650"/>
            <a:ext cx="175184" cy="8953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95778" y="2298559"/>
            <a:ext cx="144399" cy="74944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49702" y="2291927"/>
            <a:ext cx="175184" cy="756073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4411" y="2328404"/>
            <a:ext cx="144399" cy="7195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88335" y="2368197"/>
            <a:ext cx="175184" cy="679803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73044" y="2278662"/>
            <a:ext cx="175184" cy="76933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57753" y="2192443"/>
            <a:ext cx="144399" cy="85555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11677" y="2311823"/>
            <a:ext cx="175184" cy="73617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96386" y="2321772"/>
            <a:ext cx="144399" cy="7262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50310" y="2295243"/>
            <a:ext cx="175184" cy="75275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35018" y="2358249"/>
            <a:ext cx="175184" cy="68975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19727" y="2354933"/>
            <a:ext cx="144399" cy="69306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73651" y="2676596"/>
            <a:ext cx="175184" cy="3714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58360" y="2925304"/>
            <a:ext cx="144399" cy="1226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8182966" y="1924050"/>
            <a:ext cx="0" cy="1123950"/>
          </a:xfrm>
          <a:prstGeom prst="line">
            <a:avLst/>
          </a:prstGeom>
          <a:ln w="12382">
            <a:solidFill>
              <a:srgbClr val="52514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885786" y="1770936"/>
            <a:ext cx="59436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1">
                <a:solidFill>
                  <a:srgbClr val="52514E"/>
                </a:solidFill>
                <a:latin typeface="Segoe UI"/>
              </a:rPr>
              <a:t>p10 1,52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352788" y="1924050"/>
            <a:ext cx="0" cy="1123950"/>
          </a:xfrm>
          <a:prstGeom prst="line">
            <a:avLst/>
          </a:prstGeom>
          <a:ln w="12382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935593" y="1770936"/>
            <a:ext cx="83439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1">
                <a:solidFill>
                  <a:srgbClr val="0B0B0B"/>
                </a:solidFill>
                <a:latin typeface="Segoe UI"/>
              </a:rPr>
              <a:t>mediana 1,90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553395" y="1924050"/>
            <a:ext cx="0" cy="1123950"/>
          </a:xfrm>
          <a:prstGeom prst="line">
            <a:avLst/>
          </a:prstGeom>
          <a:ln w="12382">
            <a:solidFill>
              <a:srgbClr val="52514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0256215" y="1770936"/>
            <a:ext cx="594360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1">
                <a:solidFill>
                  <a:srgbClr val="52514E"/>
                </a:solidFill>
                <a:latin typeface="Segoe UI"/>
              </a:rPr>
              <a:t>p90 2,29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018618" y="2114550"/>
            <a:ext cx="0" cy="933450"/>
          </a:xfrm>
          <a:prstGeom prst="line">
            <a:avLst/>
          </a:prstGeom>
          <a:ln w="14287">
            <a:solidFill>
              <a:srgbClr val="0B0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05700" y="3048000"/>
            <a:ext cx="384810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666387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1,4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82083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1,6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97779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1,8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13475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2,0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29171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2,2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867" y="3104436"/>
            <a:ext cx="294322" cy="150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>
                <a:solidFill>
                  <a:srgbClr val="52514E"/>
                </a:solidFill>
                <a:latin typeface="Segoe UI"/>
              </a:rPr>
              <a:t>2,4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9500" y="3390900"/>
            <a:ext cx="1333500" cy="3095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A78D6"/>
                </a:solidFill>
                <a:latin typeface="Segoe UI"/>
              </a:rPr>
              <a:t>1,90 M€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9500" y="3719512"/>
            <a:ext cx="1333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mediana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9200" y="3390900"/>
            <a:ext cx="1333500" cy="3095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A78D6"/>
                </a:solidFill>
                <a:latin typeface="Segoe UI"/>
              </a:rPr>
              <a:t>1,52 a 2,29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39200" y="3719512"/>
            <a:ext cx="1333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del percentil 10 al 90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8900" y="3390900"/>
            <a:ext cx="1333500" cy="3095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A78D6"/>
                </a:solidFill>
                <a:latin typeface="Segoe UI"/>
              </a:rPr>
              <a:t>93 %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8900" y="3719512"/>
            <a:ext cx="1333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>
                <a:solidFill>
                  <a:srgbClr val="52514E"/>
                </a:solidFill>
                <a:latin typeface="Segoe UI"/>
              </a:rPr>
              <a:t>probabilidad de superar 1,5 M€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29500" y="4248150"/>
            <a:ext cx="4152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>
                <a:solidFill>
                  <a:srgbClr val="0B0B0B"/>
                </a:solidFill>
                <a:latin typeface="Segoe UI"/>
              </a:rPr>
              <a:t>Robustez del modelo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29500" y="4476750"/>
            <a:ext cx="3143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52514E"/>
                </a:solidFill>
                <a:latin typeface="Segoe UI"/>
              </a:rPr>
              <a:t>Curva estimada sobre niveles en vez de cambios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39400" y="44767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2,26 M€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429500" y="4686300"/>
            <a:ext cx="4152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429500" y="4724400"/>
            <a:ext cx="3143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52514E"/>
                </a:solidFill>
                <a:latin typeface="Segoe UI"/>
              </a:rPr>
              <a:t>Curva distinta por segmento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39400" y="472440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2,25 M€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429500" y="4933950"/>
            <a:ext cx="4152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29500" y="4972050"/>
            <a:ext cx="3143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52514E"/>
                </a:solidFill>
                <a:latin typeface="Segoe UI"/>
              </a:rPr>
              <a:t>Bootstrap de médicos, intervalo 95 %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39400" y="49720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2,39 a 2,49 M€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429500" y="5181600"/>
            <a:ext cx="4152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429500" y="5219700"/>
            <a:ext cx="3143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52514E"/>
                </a:solidFill>
                <a:latin typeface="Segoe UI"/>
              </a:rPr>
              <a:t>Manteniendo los 255 duplicados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39400" y="521970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37" b="0">
                <a:solidFill>
                  <a:srgbClr val="0B0B0B"/>
                </a:solidFill>
                <a:latin typeface="Segoe UI"/>
              </a:rPr>
              <a:t>2,48 M€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429500" y="5429250"/>
            <a:ext cx="415290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250" b="1">
                <a:solidFill>
                  <a:srgbClr val="0B0B0B"/>
                </a:solidFill>
                <a:latin typeface="Segoe UI"/>
              </a:rPr>
              <a:t>Qué no dicen los datos y qué haríamos si cambia la premisa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324600"/>
            <a:ext cx="2438400" cy="38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Business Insights · Comité Comercial ·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620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LÍMITES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47800"/>
            <a:ext cx="3390900" cy="447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37" b="0">
                <a:solidFill>
                  <a:srgbClr val="0B0B0B"/>
                </a:solidFill>
                <a:latin typeface="Segoe UI"/>
              </a:rPr>
              <a:t>Dos años de datos y sin actividad de la competencia. La curva se estima con cambios dentro del mismo médico, pero puede haber algo de selección: posible sobreestimación moderada, por eso el rango. Se asume que quitar visitas baja la cuota tanto como darlas la sube; los datos lo respaldan y ese coste ya está descontado. Los datos traían 255 visitas duplicadas, fechas sin calendario real y códigos de brick repetidos entre dos regiones; ninguna de las tres cosas cambia el resultado.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1025" y="11620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SI CAMBIA LA PREMISA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1025" y="1447800"/>
            <a:ext cx="3390900" cy="447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37" b="0">
                <a:solidFill>
                  <a:srgbClr val="0B0B0B"/>
                </a:solidFill>
                <a:latin typeface="Segoe UI"/>
              </a:rPr>
              <a:t>Con el reparto óptimo, cada visita adicional vale unos 577 € de venta anual frente a 72 € de coste. Con un 10 % menos de visitas bien repartidas se venderían 1,97 M€ más que hoy; con un 10 % más, 2,96 M€. El modelo responde a cualquier escenario de capacidad, territorio o segmento en minutos.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2450" y="1162050"/>
            <a:ext cx="3390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1" spc="120">
                <a:solidFill>
                  <a:srgbClr val="2A78D6"/>
                </a:solidFill>
                <a:latin typeface="Segoe UI"/>
              </a:rPr>
              <a:t>SIGUIENTES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50" y="1447800"/>
            <a:ext cx="3390900" cy="447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37" b="0">
                <a:solidFill>
                  <a:srgbClr val="0B0B0B"/>
                </a:solidFill>
                <a:latin typeface="Segoe UI"/>
              </a:rPr>
              <a:t>Aprobar la regla y las listas por delegado para el plan 2026. Piloto en una región durante el primer trimestre midiendo cuota a seis meses en los médicos que suben y bajan: como la cuota mensual oscila solo 1,9 puntos alrededor de su media, bastan 15 médicos por grupo para ver la subida de los B y 9 para ver la bajada de los A. Revisar la curva con los datos de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Mismas visitas, 2,44 M€ más al año</dc:title>
  <dc:subject>Reasignación de la frecuencia de visita médica · Comité Comercial</dc:subject>
  <dc:creator>Ricardo Puente Perales</dc:creator>
  <cp:keywords/>
  <dc:description/>
  <cp:lastModifiedBy>Ricardo Puente Perales</cp:lastModifiedBy>
  <cp:revision>1</cp:revision>
  <dcterms:created xsi:type="dcterms:W3CDTF">2013-01-27T09:14:16Z</dcterms:created>
  <dcterms:modified xsi:type="dcterms:W3CDTF">2013-01-27T09:15:58Z</dcterms:modified>
  <cp:category/>
</cp:coreProperties>
</file>